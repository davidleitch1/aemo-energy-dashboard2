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7315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 i="0" lang="en-AU" spc="200">
                <a:solidFill>
                  <a:srgbClr val="100F0F"/>
                </a:solidFill>
                <a:latin typeface="IBM Plex Sans"/>
                <a:cs typeface="IBM Plex Sans"/>
              </a:rPr>
              <a:t>ITK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11880"/>
            <a:ext cx="2926080" cy="50800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1" lang="en-AU">
                <a:solidFill>
                  <a:srgbClr val="575653"/>
                </a:solidFill>
                <a:latin typeface="IBM Plex Sans"/>
                <a:cs typeface="IBM Plex Sans"/>
              </a:rPr>
              <a:t>Independent research and analysis for the Australian energy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074920"/>
            <a:ext cx="1271016" cy="457200"/>
          </a:xfrm>
          <a:prstGeom prst="rect">
            <a:avLst/>
          </a:prstGeom>
          <a:solidFill>
            <a:srgbClr val="FFFCF0"/>
          </a:solidFill>
          <a:ln w="15875">
            <a:solidFill>
              <a:srgbClr val="24837B"/>
            </a:solidFill>
          </a:ln>
          <a:effectLst/>
        </p:spPr>
        <p:txBody>
          <a:bodyPr rtlCol="0" anchor="ctr" wrap="none" tIns="0" bIns="0"/>
          <a:lstStyle/>
          <a:p>
            <a:pPr algn="ctr"/>
            <a:r>
              <a:rPr sz="1300" b="1" i="0" lang="en-AU">
                <a:solidFill>
                  <a:srgbClr val="24837B"/>
                </a:solidFill>
                <a:latin typeface="IBM Plex Sans"/>
                <a:cs typeface="IBM Plex Sans"/>
              </a:rPr>
              <a:t>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14016" y="5074920"/>
            <a:ext cx="1367028" cy="457200"/>
          </a:xfrm>
          <a:prstGeom prst="rect">
            <a:avLst/>
          </a:prstGeom>
          <a:solidFill>
            <a:srgbClr val="FFFCF0"/>
          </a:solidFill>
          <a:ln w="15875">
            <a:solidFill>
              <a:srgbClr val="205EA6"/>
            </a:solidFill>
          </a:ln>
          <a:effectLst/>
        </p:spPr>
        <p:txBody>
          <a:bodyPr rtlCol="0" anchor="ctr" wrap="none" tIns="0" bIns="0"/>
          <a:lstStyle/>
          <a:p>
            <a:pPr algn="ctr"/>
            <a:r>
              <a:rPr sz="1300" b="1" i="0" lang="en-AU">
                <a:solidFill>
                  <a:srgbClr val="205EA6"/>
                </a:solidFill>
                <a:latin typeface="IBM Plex Sans"/>
                <a:cs typeface="IBM Plex Sans"/>
              </a:rPr>
              <a:t>About ITK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9644" y="5074920"/>
            <a:ext cx="1943100" cy="457200"/>
          </a:xfrm>
          <a:prstGeom prst="rect">
            <a:avLst/>
          </a:prstGeom>
          <a:solidFill>
            <a:srgbClr val="FFFCF0"/>
          </a:solidFill>
          <a:ln w="15875">
            <a:solidFill>
              <a:srgbClr val="5E409D"/>
            </a:solidFill>
          </a:ln>
          <a:effectLst/>
        </p:spPr>
        <p:txBody>
          <a:bodyPr rtlCol="0" anchor="ctr" wrap="none" tIns="0" bIns="0"/>
          <a:lstStyle/>
          <a:p>
            <a:pPr algn="ctr"/>
            <a:r>
              <a:rPr sz="1300" b="1" i="0" lang="en-AU">
                <a:solidFill>
                  <a:srgbClr val="5E409D"/>
                </a:solidFill>
                <a:latin typeface="IBM Plex Sans"/>
                <a:cs typeface="IBM Plex Sans"/>
              </a:rPr>
              <a:t>Specific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978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 lang="en-AU">
                <a:solidFill>
                  <a:srgbClr val="100F0F"/>
                </a:solidFill>
                <a:latin typeface="IBM Plex Sans"/>
                <a:cs typeface="IBM Plex Sans"/>
              </a:rPr>
              <a:t>David Leitch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2191695" cy="25400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 lang="en-AU">
                <a:solidFill>
                  <a:srgbClr val="6F6E69"/>
                </a:solidFill>
                <a:latin typeface="IBM Plex Mono"/>
                <a:cs typeface="IBM Plex Mono"/>
              </a:rPr>
              <a:t>ITK Services  ·  david.leitch@itkservices.com.au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73952"/>
            <a:ext cx="3456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 lang="en-AU" spc="200">
                <a:solidFill>
                  <a:srgbClr val="24837B"/>
                </a:solidFill>
                <a:latin typeface="IBM Plex Sans"/>
                <a:cs typeface="IBM Plex Sans"/>
              </a:rPr>
              <a:t>ITK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 lang="en-AU" spc="200">
                <a:solidFill>
                  <a:srgbClr val="FFFCF0"/>
                </a:solidFill>
                <a:latin typeface="IBM Plex Mono"/>
                <a:cs typeface="IBM Plex Mon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 i="0" lang="en-AU">
                <a:solidFill>
                  <a:srgbClr val="FFFCF0"/>
                </a:solidFill>
                <a:latin typeface="IBM Plex Sans"/>
                <a:cs typeface="IBM Plex Sans"/>
              </a:rPr>
              <a:t>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20823"/>
            <a:ext cx="146304" cy="146304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74519"/>
            <a:ext cx="104241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 lang="en-AU">
                <a:solidFill>
                  <a:srgbClr val="100F0F"/>
                </a:solidFill>
                <a:latin typeface="IBM Plex Sans"/>
                <a:cs typeface="IBM Plex Sans"/>
              </a:rPr>
              <a:t>Market reviews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629915"/>
            <a:ext cx="10424160" cy="9525"/>
          </a:xfrm>
          <a:prstGeom prst="rect">
            <a:avLst/>
          </a:prstGeom>
          <a:solidFill>
            <a:srgbClr val="DAD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88919"/>
            <a:ext cx="146304" cy="146304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42615"/>
            <a:ext cx="104241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 lang="en-AU">
                <a:solidFill>
                  <a:srgbClr val="100F0F"/>
                </a:solidFill>
                <a:latin typeface="IBM Plex Sans"/>
                <a:cs typeface="IBM Plex Sans"/>
              </a:rPr>
              <a:t>Investment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398011"/>
            <a:ext cx="10424160" cy="9525"/>
          </a:xfrm>
          <a:prstGeom prst="rect">
            <a:avLst/>
          </a:prstGeom>
          <a:solidFill>
            <a:srgbClr val="DAD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557015"/>
            <a:ext cx="146304" cy="146304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10711"/>
            <a:ext cx="104241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 lang="en-AU">
                <a:solidFill>
                  <a:srgbClr val="100F0F"/>
                </a:solidFill>
                <a:latin typeface="IBM Plex Sans"/>
                <a:cs typeface="IBM Plex Sans"/>
              </a:rPr>
              <a:t>Australian electricity spot price forecasts (my product)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166107"/>
            <a:ext cx="10424160" cy="9525"/>
          </a:xfrm>
          <a:prstGeom prst="rect">
            <a:avLst/>
          </a:prstGeom>
          <a:solidFill>
            <a:srgbClr val="DAD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325111"/>
            <a:ext cx="146304" cy="146304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178807"/>
            <a:ext cx="104241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 lang="en-AU">
                <a:solidFill>
                  <a:srgbClr val="100F0F"/>
                </a:solidFill>
                <a:latin typeface="IBM Plex Sans"/>
                <a:cs typeface="IBM Plex Sans"/>
              </a:rPr>
              <a:t>Introductions to potential partners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934203"/>
            <a:ext cx="10424160" cy="9525"/>
          </a:xfrm>
          <a:prstGeom prst="rect">
            <a:avLst/>
          </a:prstGeom>
          <a:solidFill>
            <a:srgbClr val="DAD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093207"/>
            <a:ext cx="146304" cy="146304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946903"/>
            <a:ext cx="104241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 lang="en-AU">
                <a:solidFill>
                  <a:srgbClr val="100F0F"/>
                </a:solidFill>
                <a:latin typeface="IBM Plex Sans"/>
                <a:cs typeface="IBM Plex Sans"/>
              </a:rPr>
              <a:t>Public research / investor education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19088"/>
            <a:ext cx="12191695" cy="25400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 lang="en-AU">
                <a:solidFill>
                  <a:srgbClr val="6F6E69"/>
                </a:solidFill>
                <a:latin typeface="IBM Plex Mono"/>
                <a:cs typeface="IBM Plex Mono"/>
              </a:rPr>
              <a:t>ITK Services  ·  david.leitch@itkservices.com.au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73952"/>
            <a:ext cx="3456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 lang="en-AU" spc="200">
                <a:solidFill>
                  <a:srgbClr val="24837B"/>
                </a:solidFill>
                <a:latin typeface="IBM Plex Sans"/>
                <a:cs typeface="IBM Plex Sans"/>
              </a:rPr>
              <a:t>ITK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05E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 lang="en-AU" spc="200">
                <a:solidFill>
                  <a:srgbClr val="FFFCF0"/>
                </a:solidFill>
                <a:latin typeface="IBM Plex Mono"/>
                <a:cs typeface="IBM Plex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 i="0" lang="en-AU">
                <a:solidFill>
                  <a:srgbClr val="FFFCF0"/>
                </a:solidFill>
                <a:latin typeface="IBM Plex Sans"/>
                <a:cs typeface="IBM Plex Sans"/>
              </a:rPr>
              <a:t>About ITK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20823"/>
            <a:ext cx="146304" cy="146304"/>
          </a:xfrm>
          <a:prstGeom prst="rect">
            <a:avLst/>
          </a:prstGeom>
          <a:solidFill>
            <a:srgbClr val="205E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74519"/>
            <a:ext cx="104241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 lang="en-AU">
                <a:solidFill>
                  <a:srgbClr val="100F0F"/>
                </a:solidFill>
                <a:latin typeface="IBM Plex Sans"/>
                <a:cs typeface="IBM Plex Sans"/>
              </a:rPr>
              <a:t>Consultant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629915"/>
            <a:ext cx="10424160" cy="9525"/>
          </a:xfrm>
          <a:prstGeom prst="rect">
            <a:avLst/>
          </a:prstGeom>
          <a:solidFill>
            <a:srgbClr val="DAD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88919"/>
            <a:ext cx="146304" cy="146304"/>
          </a:xfrm>
          <a:prstGeom prst="rect">
            <a:avLst/>
          </a:prstGeom>
          <a:solidFill>
            <a:srgbClr val="205E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42615"/>
            <a:ext cx="104241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 lang="en-AU">
                <a:solidFill>
                  <a:srgbClr val="100F0F"/>
                </a:solidFill>
                <a:latin typeface="IBM Plex Sans"/>
                <a:cs typeface="IBM Plex Sans"/>
              </a:rPr>
              <a:t>Background in investment banking research — UBS, JP Morgan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398011"/>
            <a:ext cx="10424160" cy="9525"/>
          </a:xfrm>
          <a:prstGeom prst="rect">
            <a:avLst/>
          </a:prstGeom>
          <a:solidFill>
            <a:srgbClr val="DAD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557015"/>
            <a:ext cx="146304" cy="146304"/>
          </a:xfrm>
          <a:prstGeom prst="rect">
            <a:avLst/>
          </a:prstGeom>
          <a:solidFill>
            <a:srgbClr val="205E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10711"/>
            <a:ext cx="104241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 lang="en-AU">
                <a:solidFill>
                  <a:srgbClr val="100F0F"/>
                </a:solidFill>
                <a:latin typeface="IBM Plex Sans"/>
                <a:cs typeface="IBM Plex Sans"/>
              </a:rPr>
              <a:t>Head of Australian utilities, building materials &amp; infrastructure research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166107"/>
            <a:ext cx="10424160" cy="9525"/>
          </a:xfrm>
          <a:prstGeom prst="rect">
            <a:avLst/>
          </a:prstGeom>
          <a:solidFill>
            <a:srgbClr val="DAD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325111"/>
            <a:ext cx="146304" cy="146304"/>
          </a:xfrm>
          <a:prstGeom prst="rect">
            <a:avLst/>
          </a:prstGeom>
          <a:solidFill>
            <a:srgbClr val="205E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178807"/>
            <a:ext cx="104241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 lang="en-AU">
                <a:solidFill>
                  <a:srgbClr val="100F0F"/>
                </a:solidFill>
                <a:latin typeface="IBM Plex Sans"/>
                <a:cs typeface="IBM Plex Sans"/>
              </a:rPr>
              <a:t>Investor education across many initial and secondary public offers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934203"/>
            <a:ext cx="10424160" cy="9525"/>
          </a:xfrm>
          <a:prstGeom prst="rect">
            <a:avLst/>
          </a:prstGeom>
          <a:solidFill>
            <a:srgbClr val="DAD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093207"/>
            <a:ext cx="146304" cy="146304"/>
          </a:xfrm>
          <a:prstGeom prst="rect">
            <a:avLst/>
          </a:prstGeom>
          <a:solidFill>
            <a:srgbClr val="205E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946903"/>
            <a:ext cx="104241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 lang="en-AU">
                <a:solidFill>
                  <a:srgbClr val="100F0F"/>
                </a:solidFill>
                <a:latin typeface="IBM Plex Sans"/>
                <a:cs typeface="IBM Plex Sans"/>
              </a:rPr>
              <a:t>Podcast interviews with top people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19088"/>
            <a:ext cx="12191695" cy="25400"/>
          </a:xfrm>
          <a:prstGeom prst="rect">
            <a:avLst/>
          </a:prstGeom>
          <a:solidFill>
            <a:srgbClr val="205E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 lang="en-AU">
                <a:solidFill>
                  <a:srgbClr val="6F6E69"/>
                </a:solidFill>
                <a:latin typeface="IBM Plex Mono"/>
                <a:cs typeface="IBM Plex Mono"/>
              </a:rPr>
              <a:t>ITK Services  ·  david.leitch@itkservices.com.au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73952"/>
            <a:ext cx="3456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 lang="en-AU" spc="200">
                <a:solidFill>
                  <a:srgbClr val="205EA6"/>
                </a:solidFill>
                <a:latin typeface="IBM Plex Sans"/>
                <a:cs typeface="IBM Plex Sans"/>
              </a:rPr>
              <a:t>ITK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5E40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 lang="en-AU" spc="200">
                <a:solidFill>
                  <a:srgbClr val="FFFCF0"/>
                </a:solidFill>
                <a:latin typeface="IBM Plex Mono"/>
                <a:cs typeface="IBM Plex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 i="0" lang="en-AU">
                <a:solidFill>
                  <a:srgbClr val="FFFCF0"/>
                </a:solidFill>
                <a:latin typeface="IBM Plex Sans"/>
                <a:cs typeface="IBM Plex Sans"/>
              </a:rPr>
              <a:t>Specific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20823"/>
            <a:ext cx="146304" cy="146304"/>
          </a:xfrm>
          <a:prstGeom prst="rect">
            <a:avLst/>
          </a:prstGeom>
          <a:solidFill>
            <a:srgbClr val="5E40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74519"/>
            <a:ext cx="104241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 lang="en-AU">
                <a:solidFill>
                  <a:srgbClr val="100F0F"/>
                </a:solidFill>
                <a:latin typeface="IBM Plex Sans"/>
                <a:cs typeface="IBM Plex Sans"/>
              </a:rPr>
              <a:t>Financial modelling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629915"/>
            <a:ext cx="10424160" cy="9525"/>
          </a:xfrm>
          <a:prstGeom prst="rect">
            <a:avLst/>
          </a:prstGeom>
          <a:solidFill>
            <a:srgbClr val="DAD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88919"/>
            <a:ext cx="146304" cy="146304"/>
          </a:xfrm>
          <a:prstGeom prst="rect">
            <a:avLst/>
          </a:prstGeom>
          <a:solidFill>
            <a:srgbClr val="5E40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42615"/>
            <a:ext cx="104241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 lang="en-AU">
                <a:solidFill>
                  <a:srgbClr val="100F0F"/>
                </a:solidFill>
                <a:latin typeface="IBM Plex Sans"/>
                <a:cs typeface="IBM Plex Sans"/>
              </a:rPr>
              <a:t>Accounts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398011"/>
            <a:ext cx="10424160" cy="9525"/>
          </a:xfrm>
          <a:prstGeom prst="rect">
            <a:avLst/>
          </a:prstGeom>
          <a:solidFill>
            <a:srgbClr val="DAD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557015"/>
            <a:ext cx="146304" cy="146304"/>
          </a:xfrm>
          <a:prstGeom prst="rect">
            <a:avLst/>
          </a:prstGeom>
          <a:solidFill>
            <a:srgbClr val="5E40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10711"/>
            <a:ext cx="104241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 lang="en-AU">
                <a:solidFill>
                  <a:srgbClr val="100F0F"/>
                </a:solidFill>
                <a:latin typeface="IBM Plex Sans"/>
                <a:cs typeface="IBM Plex Sans"/>
              </a:rPr>
              <a:t>Cost of capital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166107"/>
            <a:ext cx="10424160" cy="9525"/>
          </a:xfrm>
          <a:prstGeom prst="rect">
            <a:avLst/>
          </a:prstGeom>
          <a:solidFill>
            <a:srgbClr val="DAD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325111"/>
            <a:ext cx="146304" cy="146304"/>
          </a:xfrm>
          <a:prstGeom prst="rect">
            <a:avLst/>
          </a:prstGeom>
          <a:solidFill>
            <a:srgbClr val="5E40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178807"/>
            <a:ext cx="104241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 lang="en-AU">
                <a:solidFill>
                  <a:srgbClr val="100F0F"/>
                </a:solidFill>
                <a:latin typeface="IBM Plex Sans"/>
                <a:cs typeface="IBM Plex Sans"/>
              </a:rPr>
              <a:t>Python / vibe coding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934203"/>
            <a:ext cx="10424160" cy="9525"/>
          </a:xfrm>
          <a:prstGeom prst="rect">
            <a:avLst/>
          </a:prstGeom>
          <a:solidFill>
            <a:srgbClr val="DAD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093207"/>
            <a:ext cx="146304" cy="146304"/>
          </a:xfrm>
          <a:prstGeom prst="rect">
            <a:avLst/>
          </a:prstGeom>
          <a:solidFill>
            <a:srgbClr val="5E40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946903"/>
            <a:ext cx="104241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 lang="en-AU">
                <a:solidFill>
                  <a:srgbClr val="100F0F"/>
                </a:solidFill>
                <a:latin typeface="IBM Plex Sans"/>
                <a:cs typeface="IBM Plex Sans"/>
              </a:rPr>
              <a:t>Access to lots of data and dashboards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19088"/>
            <a:ext cx="12191695" cy="25400"/>
          </a:xfrm>
          <a:prstGeom prst="rect">
            <a:avLst/>
          </a:prstGeom>
          <a:solidFill>
            <a:srgbClr val="5E40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 lang="en-AU">
                <a:solidFill>
                  <a:srgbClr val="6F6E69"/>
                </a:solidFill>
                <a:latin typeface="IBM Plex Mono"/>
                <a:cs typeface="IBM Plex Mono"/>
              </a:rPr>
              <a:t>ITK Services  ·  david.leitch@itkservices.com.au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73952"/>
            <a:ext cx="3456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 lang="en-AU" spc="200">
                <a:solidFill>
                  <a:srgbClr val="5E409D"/>
                </a:solidFill>
                <a:latin typeface="IBM Plex Sans"/>
                <a:cs typeface="IBM Plex Sans"/>
              </a:rPr>
              <a:t>ITK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 lang="en-AU">
                <a:solidFill>
                  <a:srgbClr val="100F0F"/>
                </a:solidFill>
                <a:latin typeface="IBM Plex Sans"/>
                <a:cs typeface="IBM Plex Sans"/>
              </a:rPr>
              <a:t>How the spot-price forecast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2377440" cy="50800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 lang="en-AU">
                <a:solidFill>
                  <a:srgbClr val="575653"/>
                </a:solidFill>
                <a:latin typeface="IBM Plex Sans"/>
                <a:cs typeface="IBM Plex Sans"/>
              </a:rPr>
              <a:t>A dispatch-interval LP model of the National Electricity Market  ·  all five regions  ·  2025–2050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487168" cy="502920"/>
          </a:xfrm>
          <a:prstGeom prst="rect">
            <a:avLst/>
          </a:prstGeom>
          <a:solidFill>
            <a:srgbClr val="205E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487168" cy="502920"/>
          </a:xfrm>
          <a:prstGeom prst="rect">
            <a:avLst/>
          </a:prstGeom>
          <a:noFill/>
        </p:spPr>
        <p:txBody>
          <a:bodyPr wrap="none" anchor="ctr" lIns="118872" tIns="0" bIns="0">
            <a:spAutoFit/>
          </a:bodyPr>
          <a:lstStyle/>
          <a:p>
            <a:r>
              <a:rPr sz="1300" b="1" i="0" lang="en-AU">
                <a:solidFill>
                  <a:srgbClr val="FFFCF0"/>
                </a:solidFill>
                <a:latin typeface="IBM Plex Mono"/>
                <a:cs typeface="IBM Plex Mono"/>
              </a:rPr>
              <a:t>1   </a:t>
            </a:r>
            <a:r>
              <a:rPr sz="1400" b="1" i="0" lang="en-AU">
                <a:solidFill>
                  <a:srgbClr val="FFFCF0"/>
                </a:solidFill>
                <a:latin typeface="IBM Plex Sans"/>
                <a:cs typeface="IBM Plex Sans"/>
              </a:rPr>
              <a:t>Inputs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487168" cy="2514600"/>
          </a:xfrm>
          <a:prstGeom prst="rect">
            <a:avLst/>
          </a:prstGeom>
          <a:solidFill>
            <a:srgbClr val="FFFCF0"/>
          </a:solidFill>
          <a:ln w="15875">
            <a:solidFill>
              <a:srgbClr val="205E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487168" cy="2514600"/>
          </a:xfrm>
          <a:prstGeom prst="rect">
            <a:avLst/>
          </a:prstGeom>
          <a:noFill/>
        </p:spPr>
        <p:txBody>
          <a:bodyPr wrap="square" anchor="ctr" lIns="118872" t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1" i="0" lang="en-AU">
                <a:solidFill>
                  <a:srgbClr val="205EA6"/>
                </a:solidFill>
                <a:latin typeface="IBM Plex Sans"/>
                <a:cs typeface="IBM Plex Sans"/>
              </a:rPr>
              <a:t>▪ </a:t>
            </a:r>
            <a:r>
              <a:rPr sz="1100" b="0" i="0" lang="en-AU">
                <a:solidFill>
                  <a:srgbClr val="100F0F"/>
                </a:solidFill>
                <a:latin typeface="IBM Plex Sans"/>
                <a:cs typeface="IBM Plex Sans"/>
              </a:rPr>
              <a:t>Demand forecast (AEMO ISP)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1" i="0" lang="en-AU">
                <a:solidFill>
                  <a:srgbClr val="205EA6"/>
                </a:solidFill>
                <a:latin typeface="IBM Plex Sans"/>
                <a:cs typeface="IBM Plex Sans"/>
              </a:rPr>
              <a:t>▪ </a:t>
            </a:r>
            <a:r>
              <a:rPr sz="1100" b="0" i="0" lang="en-AU">
                <a:solidFill>
                  <a:srgbClr val="100F0F"/>
                </a:solidFill>
                <a:latin typeface="IBM Plex Sans"/>
                <a:cs typeface="IBM Plex Sans"/>
              </a:rPr>
              <a:t>Existing fleet · fuel &amp; carbon prices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1" i="0" lang="en-AU">
                <a:solidFill>
                  <a:srgbClr val="205EA6"/>
                </a:solidFill>
                <a:latin typeface="IBM Plex Sans"/>
                <a:cs typeface="IBM Plex Sans"/>
              </a:rPr>
              <a:t>▪ </a:t>
            </a:r>
            <a:r>
              <a:rPr sz="1100" b="0" i="0" lang="en-AU">
                <a:solidFill>
                  <a:srgbClr val="100F0F"/>
                </a:solidFill>
                <a:latin typeface="IBM Plex Sans"/>
                <a:cs typeface="IBM Plex Sans"/>
              </a:rPr>
              <a:t>Wind &amp; solar traces — 13 weather years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1" i="0" lang="en-AU">
                <a:solidFill>
                  <a:srgbClr val="205EA6"/>
                </a:solidFill>
                <a:latin typeface="IBM Plex Sans"/>
                <a:cs typeface="IBM Plex Sans"/>
              </a:rPr>
              <a:t>▪ </a:t>
            </a:r>
            <a:r>
              <a:rPr sz="1100" b="0" i="0" lang="en-AU">
                <a:solidFill>
                  <a:srgbClr val="100F0F"/>
                </a:solidFill>
                <a:latin typeface="IBM Plex Sans"/>
                <a:cs typeface="IBM Plex Sans"/>
              </a:rPr>
              <a:t>New-build costs (GenCost)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81528" y="3017520"/>
            <a:ext cx="292608" cy="365760"/>
          </a:xfrm>
          <a:prstGeom prst="rightArrow">
            <a:avLst/>
          </a:prstGeom>
          <a:solidFill>
            <a:srgbClr val="B7B5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9856" y="1691640"/>
            <a:ext cx="2487168" cy="502920"/>
          </a:xfrm>
          <a:prstGeom prst="rect">
            <a:avLst/>
          </a:prstGeom>
          <a:solidFill>
            <a:srgbClr val="6680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1691640"/>
            <a:ext cx="2487168" cy="502920"/>
          </a:xfrm>
          <a:prstGeom prst="rect">
            <a:avLst/>
          </a:prstGeom>
          <a:noFill/>
        </p:spPr>
        <p:txBody>
          <a:bodyPr wrap="none" anchor="ctr" lIns="118872" tIns="0" bIns="0">
            <a:spAutoFit/>
          </a:bodyPr>
          <a:lstStyle/>
          <a:p>
            <a:r>
              <a:rPr sz="1300" b="1" i="0" lang="en-AU">
                <a:solidFill>
                  <a:srgbClr val="FFFCF0"/>
                </a:solidFill>
                <a:latin typeface="IBM Plex Mono"/>
                <a:cs typeface="IBM Plex Mono"/>
              </a:rPr>
              <a:t>2   </a:t>
            </a:r>
            <a:r>
              <a:rPr sz="1400" b="1" i="0" lang="en-AU">
                <a:solidFill>
                  <a:srgbClr val="FFFCF0"/>
                </a:solidFill>
                <a:latin typeface="IBM Plex Sans"/>
                <a:cs typeface="IBM Plex Sans"/>
              </a:rPr>
              <a:t>Build the fleet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9856" y="2194560"/>
            <a:ext cx="2487168" cy="2514600"/>
          </a:xfrm>
          <a:prstGeom prst="rect">
            <a:avLst/>
          </a:prstGeom>
          <a:solidFill>
            <a:srgbClr val="FFFCF0"/>
          </a:solidFill>
          <a:ln w="15875">
            <a:solidFill>
              <a:srgbClr val="66800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9856" y="2194560"/>
            <a:ext cx="2487168" cy="2514600"/>
          </a:xfrm>
          <a:prstGeom prst="rect">
            <a:avLst/>
          </a:prstGeom>
          <a:noFill/>
        </p:spPr>
        <p:txBody>
          <a:bodyPr wrap="square" anchor="ctr" lIns="118872" t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1" i="0" lang="en-AU">
                <a:solidFill>
                  <a:srgbClr val="66800B"/>
                </a:solidFill>
                <a:latin typeface="IBM Plex Sans"/>
                <a:cs typeface="IBM Plex Sans"/>
              </a:rPr>
              <a:t>▪ </a:t>
            </a:r>
            <a:r>
              <a:rPr sz="1100" b="0" i="0" lang="en-AU">
                <a:solidFill>
                  <a:srgbClr val="100F0F"/>
                </a:solidFill>
                <a:latin typeface="IBM Plex Sans"/>
                <a:cs typeface="IBM Plex Sans"/>
              </a:rPr>
              <a:t>LRMC: joint capacity + dispatch LP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1" i="0" lang="en-AU">
                <a:solidFill>
                  <a:srgbClr val="66800B"/>
                </a:solidFill>
                <a:latin typeface="IBM Plex Sans"/>
                <a:cs typeface="IBM Plex Sans"/>
              </a:rPr>
              <a:t>▪ </a:t>
            </a:r>
            <a:r>
              <a:rPr sz="1100" b="0" i="0" lang="en-AU">
                <a:solidFill>
                  <a:srgbClr val="100F0F"/>
                </a:solidFill>
                <a:latin typeface="IBM Plex Sans"/>
                <a:cs typeface="IBM Plex Sans"/>
              </a:rPr>
              <a:t>Anchor years 2035–2050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1" i="0" lang="en-AU">
                <a:solidFill>
                  <a:srgbClr val="66800B"/>
                </a:solidFill>
                <a:latin typeface="IBM Plex Sans"/>
                <a:cs typeface="IBM Plex Sans"/>
              </a:rPr>
              <a:t>▪ </a:t>
            </a:r>
            <a:r>
              <a:rPr sz="1100" b="0" i="0" lang="en-AU">
                <a:solidFill>
                  <a:srgbClr val="100F0F"/>
                </a:solidFill>
                <a:latin typeface="IBM Plex Sans"/>
                <a:cs typeface="IBM Plex Sans"/>
              </a:rPr>
              <a:t>Least-cost fleet — each technology earns its cost of capital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1" i="0" lang="en-AU">
                <a:solidFill>
                  <a:srgbClr val="66800B"/>
                </a:solidFill>
                <a:latin typeface="IBM Plex Sans"/>
                <a:cs typeface="IBM Plex Sans"/>
              </a:rPr>
              <a:t>▪ </a:t>
            </a:r>
            <a:r>
              <a:rPr sz="1100" b="0" i="0" lang="en-AU">
                <a:solidFill>
                  <a:srgbClr val="100F0F"/>
                </a:solidFill>
                <a:latin typeface="IBM Plex Sans"/>
                <a:cs typeface="IBM Plex Sans"/>
              </a:rPr>
              <a:t>Capacity path 2025–2050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52744" y="3017520"/>
            <a:ext cx="292608" cy="365760"/>
          </a:xfrm>
          <a:prstGeom prst="rightArrow">
            <a:avLst/>
          </a:prstGeom>
          <a:solidFill>
            <a:srgbClr val="B7B5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691640"/>
            <a:ext cx="2487168" cy="502920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691640"/>
            <a:ext cx="2487168" cy="502920"/>
          </a:xfrm>
          <a:prstGeom prst="rect">
            <a:avLst/>
          </a:prstGeom>
          <a:noFill/>
        </p:spPr>
        <p:txBody>
          <a:bodyPr wrap="none" anchor="ctr" lIns="118872" tIns="0" bIns="0">
            <a:spAutoFit/>
          </a:bodyPr>
          <a:lstStyle/>
          <a:p>
            <a:r>
              <a:rPr sz="1300" b="1" i="0" lang="en-AU">
                <a:solidFill>
                  <a:srgbClr val="FFFCF0"/>
                </a:solidFill>
                <a:latin typeface="IBM Plex Mono"/>
                <a:cs typeface="IBM Plex Mono"/>
              </a:rPr>
              <a:t>3   </a:t>
            </a:r>
            <a:r>
              <a:rPr sz="1400" b="1" i="0" lang="en-AU">
                <a:solidFill>
                  <a:srgbClr val="FFFCF0"/>
                </a:solidFill>
                <a:latin typeface="IBM Plex Sans"/>
                <a:cs typeface="IBM Plex Sans"/>
              </a:rPr>
              <a:t>Dispatch LP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2194560"/>
            <a:ext cx="2487168" cy="2514600"/>
          </a:xfrm>
          <a:prstGeom prst="rect">
            <a:avLst/>
          </a:prstGeom>
          <a:solidFill>
            <a:srgbClr val="FFFCF0"/>
          </a:solidFill>
          <a:ln w="15875">
            <a:solidFill>
              <a:srgbClr val="2483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2194560"/>
            <a:ext cx="2487168" cy="2514600"/>
          </a:xfrm>
          <a:prstGeom prst="rect">
            <a:avLst/>
          </a:prstGeom>
          <a:noFill/>
        </p:spPr>
        <p:txBody>
          <a:bodyPr wrap="square" anchor="ctr" lIns="118872" t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1" i="0" lang="en-AU">
                <a:solidFill>
                  <a:srgbClr val="24837B"/>
                </a:solidFill>
                <a:latin typeface="IBM Plex Sans"/>
                <a:cs typeface="IBM Plex Sans"/>
              </a:rPr>
              <a:t>▪ </a:t>
            </a:r>
            <a:r>
              <a:rPr sz="1100" b="0" i="0" lang="en-AU">
                <a:solidFill>
                  <a:srgbClr val="100F0F"/>
                </a:solidFill>
                <a:latin typeface="IBM Plex Sans"/>
                <a:cs typeface="IBM Plex Sans"/>
              </a:rPr>
              <a:t>Supply cleared against demand — every half-hour, each region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1" i="0" lang="en-AU">
                <a:solidFill>
                  <a:srgbClr val="24837B"/>
                </a:solidFill>
                <a:latin typeface="IBM Plex Sans"/>
                <a:cs typeface="IBM Plex Sans"/>
              </a:rPr>
              <a:t>▪ </a:t>
            </a:r>
            <a:r>
              <a:rPr sz="1100" b="0" i="0" lang="en-AU">
                <a:solidFill>
                  <a:srgbClr val="100F0F"/>
                </a:solidFill>
                <a:latin typeface="IBM Plex Sans"/>
                <a:cs typeface="IBM Plex Sans"/>
              </a:rPr>
              <a:t>17,520 LP solves per year (HiGHS)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1" i="0" lang="en-AU">
                <a:solidFill>
                  <a:srgbClr val="24837B"/>
                </a:solidFill>
                <a:latin typeface="IBM Plex Sans"/>
                <a:cs typeface="IBM Plex Sans"/>
              </a:rPr>
              <a:t>▪ </a:t>
            </a:r>
            <a:r>
              <a:rPr sz="1100" b="0" i="0" lang="en-AU">
                <a:solidFill>
                  <a:srgbClr val="100F0F"/>
                </a:solidFill>
                <a:latin typeface="IBM Plex Sans"/>
                <a:cs typeface="IBM Plex Sans"/>
              </a:rPr>
              <a:t>Generators · batteries · interconnectors · network limits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23960" y="3017520"/>
            <a:ext cx="292608" cy="365760"/>
          </a:xfrm>
          <a:prstGeom prst="rightArrow">
            <a:avLst/>
          </a:prstGeom>
          <a:solidFill>
            <a:srgbClr val="B7B5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62288" y="1691640"/>
            <a:ext cx="2487168" cy="502920"/>
          </a:xfrm>
          <a:prstGeom prst="rect">
            <a:avLst/>
          </a:prstGeom>
          <a:solidFill>
            <a:srgbClr val="BC52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288" y="1691640"/>
            <a:ext cx="2487168" cy="502920"/>
          </a:xfrm>
          <a:prstGeom prst="rect">
            <a:avLst/>
          </a:prstGeom>
          <a:noFill/>
        </p:spPr>
        <p:txBody>
          <a:bodyPr wrap="none" anchor="ctr" lIns="118872" tIns="0" bIns="0">
            <a:spAutoFit/>
          </a:bodyPr>
          <a:lstStyle/>
          <a:p>
            <a:r>
              <a:rPr sz="1300" b="1" i="0" lang="en-AU">
                <a:solidFill>
                  <a:srgbClr val="FFFCF0"/>
                </a:solidFill>
                <a:latin typeface="IBM Plex Mono"/>
                <a:cs typeface="IBM Plex Mono"/>
              </a:rPr>
              <a:t>4   </a:t>
            </a:r>
            <a:r>
              <a:rPr sz="1400" b="1" i="0" lang="en-AU">
                <a:solidFill>
                  <a:srgbClr val="FFFCF0"/>
                </a:solidFill>
                <a:latin typeface="IBM Plex Sans"/>
                <a:cs typeface="IBM Plex Sans"/>
              </a:rPr>
              <a:t>Price forecasts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62288" y="2194560"/>
            <a:ext cx="2487168" cy="2514600"/>
          </a:xfrm>
          <a:prstGeom prst="rect">
            <a:avLst/>
          </a:prstGeom>
          <a:solidFill>
            <a:srgbClr val="FFFCF0"/>
          </a:solidFill>
          <a:ln w="15875">
            <a:solidFill>
              <a:srgbClr val="BC52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2194560"/>
            <a:ext cx="2487168" cy="2514600"/>
          </a:xfrm>
          <a:prstGeom prst="rect">
            <a:avLst/>
          </a:prstGeom>
          <a:noFill/>
        </p:spPr>
        <p:txBody>
          <a:bodyPr wrap="square" anchor="ctr" lIns="118872" t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1" i="0" lang="en-AU">
                <a:solidFill>
                  <a:srgbClr val="BC5215"/>
                </a:solidFill>
                <a:latin typeface="IBM Plex Sans"/>
                <a:cs typeface="IBM Plex Sans"/>
              </a:rPr>
              <a:t>▪ </a:t>
            </a:r>
            <a:r>
              <a:rPr sz="1100" b="0" i="0" lang="en-AU">
                <a:solidFill>
                  <a:srgbClr val="100F0F"/>
                </a:solidFill>
                <a:latin typeface="IBM Plex Sans"/>
                <a:cs typeface="IBM Plex Sans"/>
              </a:rPr>
              <a:t>Half-hourly regional spot prices to 2050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1" i="0" lang="en-AU">
                <a:solidFill>
                  <a:srgbClr val="BC5215"/>
                </a:solidFill>
                <a:latin typeface="IBM Plex Sans"/>
                <a:cs typeface="IBM Plex Sans"/>
              </a:rPr>
              <a:t>▪ </a:t>
            </a:r>
            <a:r>
              <a:rPr sz="1100" b="0" i="0" lang="en-AU">
                <a:solidFill>
                  <a:srgbClr val="100F0F"/>
                </a:solidFill>
                <a:latin typeface="IBM Plex Sans"/>
                <a:cs typeface="IBM Plex Sans"/>
              </a:rPr>
              <a:t>Generation mix · emissions · project ROIs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1" i="0" lang="en-AU">
                <a:solidFill>
                  <a:srgbClr val="BC5215"/>
                </a:solidFill>
                <a:latin typeface="IBM Plex Sans"/>
                <a:cs typeface="IBM Plex Sans"/>
              </a:rPr>
              <a:t>▪ </a:t>
            </a:r>
            <a:r>
              <a:rPr sz="1100" b="0" i="0" lang="en-AU">
                <a:solidFill>
                  <a:srgbClr val="100F0F"/>
                </a:solidFill>
                <a:latin typeface="IBM Plex Sans"/>
                <a:cs typeface="IBM Plex Sans"/>
              </a:rPr>
              <a:t>Probabilistic over weather years → 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74920"/>
            <a:ext cx="11100816" cy="841248"/>
          </a:xfrm>
          <a:prstGeom prst="rect">
            <a:avLst/>
          </a:prstGeom>
          <a:solidFill>
            <a:srgbClr val="F2F0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074920"/>
            <a:ext cx="82296" cy="841248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074920"/>
            <a:ext cx="10643616" cy="841248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r>
              <a:rPr sz="1500" b="0" i="0" lang="en-AU">
                <a:solidFill>
                  <a:srgbClr val="100F0F"/>
                </a:solidFill>
                <a:latin typeface="IBM Plex Sans"/>
                <a:cs typeface="IBM Plex Sans"/>
              </a:rPr>
              <a:t>Spot prices emerge as the </a:t>
            </a:r>
            <a:r>
              <a:rPr sz="1500" b="1" i="0" lang="en-AU">
                <a:solidFill>
                  <a:srgbClr val="24837B"/>
                </a:solidFill>
                <a:latin typeface="IBM Plex Sans"/>
                <a:cs typeface="IBM Plex Sans"/>
              </a:rPr>
              <a:t>dual (shadow) prices</a:t>
            </a:r>
            <a:r>
              <a:rPr sz="1500" b="0" i="0" lang="en-AU">
                <a:solidFill>
                  <a:srgbClr val="100F0F"/>
                </a:solidFill>
                <a:latin typeface="IBM Plex Sans"/>
                <a:cs typeface="IBM Plex Sans"/>
              </a:rPr>
              <a:t> of each region's supply = demand balance — the same price-formation mechanism as </a:t>
            </a:r>
            <a:r>
              <a:rPr sz="1500" b="1" i="0" lang="en-AU">
                <a:solidFill>
                  <a:srgbClr val="24837B"/>
                </a:solidFill>
                <a:latin typeface="IBM Plex Sans"/>
                <a:cs typeface="IBM Plex Sans"/>
              </a:rPr>
              <a:t>AEMO's NEMDE.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19088"/>
            <a:ext cx="12191695" cy="25400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 lang="en-AU">
                <a:solidFill>
                  <a:srgbClr val="6F6E69"/>
                </a:solidFill>
                <a:latin typeface="IBM Plex Mono"/>
                <a:cs typeface="IBM Plex Mono"/>
              </a:rPr>
              <a:t>ITK Services  ·  david.leitch@itkservices.com.au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473952"/>
            <a:ext cx="3456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 lang="en-AU" spc="200">
                <a:solidFill>
                  <a:srgbClr val="24837B"/>
                </a:solidFill>
                <a:latin typeface="IBM Plex Sans"/>
                <a:cs typeface="IBM Plex Sans"/>
              </a:rPr>
              <a:t>ITK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 lang="en-AU">
                <a:solidFill>
                  <a:srgbClr val="100F0F"/>
                </a:solidFill>
                <a:latin typeface="IBM Plex Sans"/>
                <a:cs typeface="IBM Plex Sans"/>
              </a:rPr>
              <a:t>Let's talk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154680"/>
            <a:ext cx="2194560" cy="50800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 lang="en-AU">
                <a:solidFill>
                  <a:srgbClr val="100F0F"/>
                </a:solidFill>
                <a:latin typeface="IBM Plex Sans"/>
                <a:cs typeface="IBM Plex Sans"/>
              </a:rPr>
              <a:t>David Leitch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9592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 lang="en-AU">
                <a:solidFill>
                  <a:srgbClr val="575653"/>
                </a:solidFill>
                <a:latin typeface="IBM Plex Sans"/>
                <a:cs typeface="IBM Plex Sans"/>
              </a:rPr>
              <a:t>ITK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71416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 lang="en-AU">
                <a:solidFill>
                  <a:srgbClr val="24837B"/>
                </a:solidFill>
                <a:latin typeface="IBM Plex Mono"/>
                <a:cs typeface="IBM Plex Mono"/>
              </a:rPr>
              <a:t>david.leitch@itkservices.com.au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25400"/>
          </a:xfrm>
          <a:prstGeom prst="rect">
            <a:avLst/>
          </a:prstGeom>
          <a:solidFill>
            <a:srgbClr val="248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 lang="en-AU">
                <a:solidFill>
                  <a:srgbClr val="6F6E69"/>
                </a:solidFill>
                <a:latin typeface="IBM Plex Mono"/>
                <a:cs typeface="IBM Plex Mono"/>
              </a:rPr>
              <a:t>ITK Services  ·  david.leitch@itkservices.com.au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73952"/>
            <a:ext cx="3456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 lang="en-AU" spc="200">
                <a:solidFill>
                  <a:srgbClr val="24837B"/>
                </a:solidFill>
                <a:latin typeface="IBM Plex Sans"/>
                <a:cs typeface="IBM Plex Sans"/>
              </a:rPr>
              <a:t>ITK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