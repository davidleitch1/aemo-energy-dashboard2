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7315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0" b="1" i="0" lang="en-AU" spc="200">
                <a:solidFill>
                  <a:srgbClr val="100F0F"/>
                </a:solidFill>
                <a:latin typeface="IBM Plex Sans"/>
                <a:cs typeface="IBM Plex Sans"/>
              </a:rPr>
              <a:t>ITK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926080" cy="5080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1" lang="en-AU">
                <a:solidFill>
                  <a:srgbClr val="575653"/>
                </a:solidFill>
                <a:latin typeface="IBM Plex Sans"/>
                <a:cs typeface="IBM Plex Sans"/>
              </a:rPr>
              <a:t>Independent research and analysis for the Australian energy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74920"/>
            <a:ext cx="1271016" cy="457200"/>
          </a:xfrm>
          <a:prstGeom prst="rect">
            <a:avLst/>
          </a:prstGeom>
          <a:solidFill>
            <a:srgbClr val="FFFCF0"/>
          </a:solidFill>
          <a:ln w="15875">
            <a:solidFill>
              <a:srgbClr val="248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 i="0" lang="en-AU">
                <a:solidFill>
                  <a:srgbClr val="24837B"/>
                </a:solidFill>
                <a:latin typeface="IBM Plex Sans"/>
                <a:cs typeface="IBM Plex Sans"/>
              </a:rPr>
              <a:t>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414016" y="5074920"/>
            <a:ext cx="1367028" cy="457200"/>
          </a:xfrm>
          <a:prstGeom prst="rect">
            <a:avLst/>
          </a:prstGeom>
          <a:solidFill>
            <a:srgbClr val="FFFCF0"/>
          </a:solidFill>
          <a:ln w="15875">
            <a:solidFill>
              <a:srgbClr val="205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 i="0" lang="en-AU">
                <a:solidFill>
                  <a:srgbClr val="205EA6"/>
                </a:solidFill>
                <a:latin typeface="IBM Plex Sans"/>
                <a:cs typeface="IBM Plex Sans"/>
              </a:rPr>
              <a:t>About ITK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9644" y="5074920"/>
            <a:ext cx="1943100" cy="457200"/>
          </a:xfrm>
          <a:prstGeom prst="rect">
            <a:avLst/>
          </a:prstGeom>
          <a:solidFill>
            <a:srgbClr val="FFFCF0"/>
          </a:solidFill>
          <a:ln w="15875">
            <a:solidFill>
              <a:srgbClr val="5E4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 i="0" lang="en-AU">
                <a:solidFill>
                  <a:srgbClr val="5E409D"/>
                </a:solidFill>
                <a:latin typeface="IBM Plex Sans"/>
                <a:cs typeface="IBM Plex Sans"/>
              </a:rPr>
              <a:t>Specific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 lang="en-AU">
                <a:solidFill>
                  <a:srgbClr val="100F0F"/>
                </a:solidFill>
                <a:latin typeface="IBM Plex Sans"/>
                <a:cs typeface="IBM Plex Sans"/>
              </a:rPr>
              <a:t>David Leitch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2191695" cy="2540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 lang="en-AU">
                <a:solidFill>
                  <a:srgbClr val="6F6E69"/>
                </a:solidFill>
                <a:latin typeface="IBM Plex Mono"/>
                <a:cs typeface="IBM Plex Mono"/>
              </a:rPr>
              <a:t>ITK Services  ·  david.leitch@itkservices.com.au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73952"/>
            <a:ext cx="3456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 lang="en-AU" spc="200">
                <a:solidFill>
                  <a:srgbClr val="24837B"/>
                </a:solidFill>
                <a:latin typeface="IBM Plex Sans"/>
                <a:cs typeface="IBM Plex Sans"/>
              </a:rPr>
              <a:t>ITK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lang="en-AU" spc="200">
                <a:solidFill>
                  <a:srgbClr val="FFFCF0"/>
                </a:solidFill>
                <a:latin typeface="IBM Plex Mono"/>
                <a:cs typeface="IBM Plex Mon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 lang="en-AU">
                <a:solidFill>
                  <a:srgbClr val="FFFCF0"/>
                </a:solidFill>
                <a:latin typeface="IBM Plex Sans"/>
                <a:cs typeface="IBM Plex Sans"/>
              </a:rPr>
              <a:t>Services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20823"/>
            <a:ext cx="146304" cy="146304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74519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Market reviews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629915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19"/>
            <a:ext cx="146304" cy="146304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42615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Investment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398011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557015"/>
            <a:ext cx="146304" cy="146304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1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Australian electricity spot price forecasts (my product)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166107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325111"/>
            <a:ext cx="146304" cy="146304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178807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Introductions to potential partners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934203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093207"/>
            <a:ext cx="146304" cy="146304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946903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Public research / investor education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19088"/>
            <a:ext cx="12191695" cy="2540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 lang="en-AU">
                <a:solidFill>
                  <a:srgbClr val="6F6E69"/>
                </a:solidFill>
                <a:latin typeface="IBM Plex Mono"/>
                <a:cs typeface="IBM Plex Mono"/>
              </a:rPr>
              <a:t>ITK Services  ·  david.leitch@itkservices.com.au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73952"/>
            <a:ext cx="3456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 lang="en-AU" spc="200">
                <a:solidFill>
                  <a:srgbClr val="24837B"/>
                </a:solidFill>
                <a:latin typeface="IBM Plex Sans"/>
                <a:cs typeface="IBM Plex Sans"/>
              </a:rPr>
              <a:t>ITK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20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lang="en-AU" spc="200">
                <a:solidFill>
                  <a:srgbClr val="FFFCF0"/>
                </a:solidFill>
                <a:latin typeface="IBM Plex Mono"/>
                <a:cs typeface="IBM Plex Mon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 lang="en-AU">
                <a:solidFill>
                  <a:srgbClr val="FFFCF0"/>
                </a:solidFill>
                <a:latin typeface="IBM Plex Sans"/>
                <a:cs typeface="IBM Plex Sans"/>
              </a:rPr>
              <a:t>About ITK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20823"/>
            <a:ext cx="146304" cy="146304"/>
          </a:xfrm>
          <a:prstGeom prst="rect">
            <a:avLst/>
          </a:prstGeom>
          <a:solidFill>
            <a:srgbClr val="20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74519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Consultant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629915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19"/>
            <a:ext cx="146304" cy="146304"/>
          </a:xfrm>
          <a:prstGeom prst="rect">
            <a:avLst/>
          </a:prstGeom>
          <a:solidFill>
            <a:srgbClr val="20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42615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Background in investment banking research — UBS, JP Morgan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398011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557015"/>
            <a:ext cx="146304" cy="146304"/>
          </a:xfrm>
          <a:prstGeom prst="rect">
            <a:avLst/>
          </a:prstGeom>
          <a:solidFill>
            <a:srgbClr val="20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1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Head of Australian utilities, building materials &amp; infrastructure research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166107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325111"/>
            <a:ext cx="146304" cy="146304"/>
          </a:xfrm>
          <a:prstGeom prst="rect">
            <a:avLst/>
          </a:prstGeom>
          <a:solidFill>
            <a:srgbClr val="20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178807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Investor education across many initial and secondary public offers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934203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093207"/>
            <a:ext cx="146304" cy="146304"/>
          </a:xfrm>
          <a:prstGeom prst="rect">
            <a:avLst/>
          </a:prstGeom>
          <a:solidFill>
            <a:srgbClr val="20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946903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Podcast interviews with top people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19088"/>
            <a:ext cx="12191695" cy="25400"/>
          </a:xfrm>
          <a:prstGeom prst="rect">
            <a:avLst/>
          </a:prstGeom>
          <a:solidFill>
            <a:srgbClr val="205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 lang="en-AU">
                <a:solidFill>
                  <a:srgbClr val="6F6E69"/>
                </a:solidFill>
                <a:latin typeface="IBM Plex Mono"/>
                <a:cs typeface="IBM Plex Mono"/>
              </a:rPr>
              <a:t>ITK Services  ·  david.leitch@itkservices.com.au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73952"/>
            <a:ext cx="3456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 lang="en-AU" spc="200">
                <a:solidFill>
                  <a:srgbClr val="205EA6"/>
                </a:solidFill>
                <a:latin typeface="IBM Plex Sans"/>
                <a:cs typeface="IBM Plex Sans"/>
              </a:rPr>
              <a:t>ITK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5E4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lang="en-AU" spc="200">
                <a:solidFill>
                  <a:srgbClr val="FFFCF0"/>
                </a:solidFill>
                <a:latin typeface="IBM Plex Mono"/>
                <a:cs typeface="IBM Plex Mon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 i="0" lang="en-AU">
                <a:solidFill>
                  <a:srgbClr val="FFFCF0"/>
                </a:solidFill>
                <a:latin typeface="IBM Plex Sans"/>
                <a:cs typeface="IBM Plex Sans"/>
              </a:rPr>
              <a:t>Specific skills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20823"/>
            <a:ext cx="146304" cy="146304"/>
          </a:xfrm>
          <a:prstGeom prst="rect">
            <a:avLst/>
          </a:prstGeom>
          <a:solidFill>
            <a:srgbClr val="5E4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74519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Financial modelling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629915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19"/>
            <a:ext cx="146304" cy="146304"/>
          </a:xfrm>
          <a:prstGeom prst="rect">
            <a:avLst/>
          </a:prstGeom>
          <a:solidFill>
            <a:srgbClr val="5E4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42615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Accounts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398011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557015"/>
            <a:ext cx="146304" cy="146304"/>
          </a:xfrm>
          <a:prstGeom prst="rect">
            <a:avLst/>
          </a:prstGeom>
          <a:solidFill>
            <a:srgbClr val="5E4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1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Cost of capital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166107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325111"/>
            <a:ext cx="146304" cy="146304"/>
          </a:xfrm>
          <a:prstGeom prst="rect">
            <a:avLst/>
          </a:prstGeom>
          <a:solidFill>
            <a:srgbClr val="5E4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178807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Python / vibe coding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934203"/>
            <a:ext cx="10424160" cy="9525"/>
          </a:xfrm>
          <a:prstGeom prst="rect">
            <a:avLst/>
          </a:prstGeom>
          <a:solidFill>
            <a:srgbClr val="DA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093207"/>
            <a:ext cx="146304" cy="146304"/>
          </a:xfrm>
          <a:prstGeom prst="rect">
            <a:avLst/>
          </a:prstGeom>
          <a:solidFill>
            <a:srgbClr val="5E4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946903"/>
            <a:ext cx="104241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 i="0" lang="en-AU">
                <a:solidFill>
                  <a:srgbClr val="100F0F"/>
                </a:solidFill>
                <a:latin typeface="IBM Plex Sans"/>
                <a:cs typeface="IBM Plex Sans"/>
              </a:rPr>
              <a:t>Access to lots of data and dashboards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19088"/>
            <a:ext cx="12191695" cy="25400"/>
          </a:xfrm>
          <a:prstGeom prst="rect">
            <a:avLst/>
          </a:prstGeom>
          <a:solidFill>
            <a:srgbClr val="5E4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 lang="en-AU">
                <a:solidFill>
                  <a:srgbClr val="6F6E69"/>
                </a:solidFill>
                <a:latin typeface="IBM Plex Mono"/>
                <a:cs typeface="IBM Plex Mono"/>
              </a:rPr>
              <a:t>ITK Services  ·  david.leitch@itkservices.com.au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73952"/>
            <a:ext cx="3456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 lang="en-AU" spc="200">
                <a:solidFill>
                  <a:srgbClr val="5E409D"/>
                </a:solidFill>
                <a:latin typeface="IBM Plex Sans"/>
                <a:cs typeface="IBM Plex Sans"/>
              </a:rPr>
              <a:t>ITK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 lang="en-AU">
                <a:solidFill>
                  <a:srgbClr val="100F0F"/>
                </a:solidFill>
                <a:latin typeface="IBM Plex Sans"/>
                <a:cs typeface="IBM Plex Sans"/>
              </a:rPr>
              <a:t>Let's talk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154680"/>
            <a:ext cx="2194560" cy="5080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lang="en-AU">
                <a:solidFill>
                  <a:srgbClr val="100F0F"/>
                </a:solidFill>
                <a:latin typeface="IBM Plex Sans"/>
                <a:cs typeface="IBM Plex Sans"/>
              </a:rPr>
              <a:t>David Leitch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95928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 lang="en-AU">
                <a:solidFill>
                  <a:srgbClr val="575653"/>
                </a:solidFill>
                <a:latin typeface="IBM Plex Sans"/>
                <a:cs typeface="IBM Plex Sans"/>
              </a:rPr>
              <a:t>ITK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71416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 lang="en-AU">
                <a:solidFill>
                  <a:srgbClr val="24837B"/>
                </a:solidFill>
                <a:latin typeface="IBM Plex Mono"/>
                <a:cs typeface="IBM Plex Mono"/>
              </a:rPr>
              <a:t>david.leitch@itkservices.com.au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25400"/>
          </a:xfrm>
          <a:prstGeom prst="rect">
            <a:avLst/>
          </a:prstGeom>
          <a:solidFill>
            <a:srgbClr val="248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 lang="en-AU">
                <a:solidFill>
                  <a:srgbClr val="6F6E69"/>
                </a:solidFill>
                <a:latin typeface="IBM Plex Mono"/>
                <a:cs typeface="IBM Plex Mono"/>
              </a:rPr>
              <a:t>ITK Services  ·  david.leitch@itkservices.com.au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473952"/>
            <a:ext cx="345643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 lang="en-AU" spc="200">
                <a:solidFill>
                  <a:srgbClr val="24837B"/>
                </a:solidFill>
                <a:latin typeface="IBM Plex Sans"/>
                <a:cs typeface="IBM Plex Sans"/>
              </a:rPr>
              <a:t>ITK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